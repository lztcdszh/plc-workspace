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313" r:id="rId4"/>
    <p:sldId id="314" r:id="rId6"/>
    <p:sldId id="315" r:id="rId7"/>
    <p:sldId id="316" r:id="rId8"/>
    <p:sldId id="317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771" userDrawn="1">
          <p15:clr>
            <a:srgbClr val="747775"/>
          </p15:clr>
        </p15:guide>
        <p15:guide id="2" pos="2875" userDrawn="1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p" initials="h" lastIdx="0" clrIdx="0"/>
  <p:cmAuthor id="2" name="Administrat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</p:showPr>
  <p:clrMru>
    <a:srgbClr val="22C5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771"/>
        <p:guide pos="2875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commentAuthors" Target="commentAuthors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我们的解决方案是一个完整的软硬件一体化系统，旨在打造骨料管理的“数字大脑”。整个架构逻辑严密，分为三个层级：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最底层是“硬件层”，即我们的智能盘点机器人。它像人的眼睛一样，利用高精度的激光雷达，对料仓进行全覆盖、无死角的扫描，获取最真实的现场数据。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中间是核心的“数据处理层”，即多算法融合计算引擎。这就像人的大脑，接收底层采集的海量点云数据，运用平均法、蒙特卡洛法等多种专业算法进行复杂的融合计算，消除误差，精准解算出料堆体积。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最上层是“应用层”，也就是智慧管理平台。它是管理者的“指挥中枢”，将枯燥的数据转化为直观的可视化看板、智能预警和自动报表，辅助管理人员进行科学决策。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从下到上，数据层层汇聚、加工；从上到下，指令精准下发、执行。这套架构打通了从“数据采集”到“分析计算”再到“管理决策”的全链路，真正实现了骨料管理的智能化升级。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我们的解决方案是一个完整的软硬件一体化系统，旨在打造骨料管理的“数字大脑”。整个架构逻辑严密，分为三个层级：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最底层是“硬件层”，即我们的智能盘点机器人。它像人的眼睛一样，利用高精度的激光雷达，对料仓进行全覆盖、无死角的扫描，获取最真实的现场数据。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中间是核心的“数据处理层”，即多算法融合计算引擎。这就像人的大脑，接收底层采集的海量点云数据，运用平均法、蒙特卡洛法等多种专业算法进行复杂的融合计算，消除误差，精准解算出料堆体积。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最上层是“应用层”，也就是智慧管理平台。它是管理者的“指挥中枢”，将枯燥的数据转化为直观的可视化看板、智能预警和自动报表，辅助管理人员进行科学决策。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从下到上，数据层层汇聚、加工；从上到下，指令精准下发、执行。这套架构打通了从“数据采集”到“分析计算”再到“管理决策”的全链路，真正实现了骨料管理的智能化升级。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我们的解决方案是一个完整的软硬件一体化系统，旨在打造骨料管理的“数字大脑”。整个架构逻辑严密，分为三个层级：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最底层是“硬件层”，即我们的智能盘点机器人。它像人的眼睛一样，利用高精度的激光雷达，对料仓进行全覆盖、无死角的扫描，获取最真实的现场数据。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中间是核心的“数据处理层”，即多算法融合计算引擎。这就像人的大脑，接收底层采集的海量点云数据，运用平均法、蒙特卡洛法等多种专业算法进行复杂的融合计算，消除误差，精准解算出料堆体积。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最上层是“应用层”，也就是智慧管理平台。它是管理者的“指挥中枢”，将枯燥的数据转化为直观的可视化看板、智能预警和自动报表，辅助管理人员进行科学决策。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从下到上，数据层层汇聚、加工；从上到下，指令精准下发、执行。这套架构打通了从“数据采集”到“分析计算”再到“管理决策”的全链路，真正实现了骨料管理的智能化升级。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我们的解决方案是一个完整的软硬件一体化系统，旨在打造骨料管理的“数字大脑”。整个架构逻辑严密，分为三个层级：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最底层是“硬件层”，即我们的智能盘点机器人。它像人的眼睛一样，利用高精度的激光雷达，对料仓进行全覆盖、无死角的扫描，获取最真实的现场数据。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中间是核心的“数据处理层”，即多算法融合计算引擎。这就像人的大脑，接收底层采集的海量点云数据，运用平均法、蒙特卡洛法等多种专业算法进行复杂的融合计算，消除误差，精准解算出料堆体积。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最上层是“应用层”，也就是智慧管理平台。它是管理者的“指挥中枢”，将枯燥的数据转化为直观的可视化看板、智能预警和自动报表，辅助管理人员进行科学决策。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从下到上，数据层层汇聚、加工；从上到下，指令精准下发、执行。这套架构打通了从“数据采集”到“分析计算”再到“管理决策”的全链路，真正实现了骨料管理的智能化升级。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我们的解决方案是一个完整的软硬件一体化系统，旨在打造骨料管理的“数字大脑”。整个架构逻辑严密，分为三个层级：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最底层是“硬件层”，即我们的智能盘点机器人。它像人的眼睛一样，利用高精度的激光雷达，对料仓进行全覆盖、无死角的扫描，获取最真实的现场数据。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中间是核心的“数据处理层”，即多算法融合计算引擎。这就像人的大脑，接收底层采集的海量点云数据，运用平均法、蒙特卡洛法等多种专业算法进行复杂的融合计算，消除误差，精准解算出料堆体积。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最上层是“应用层”，也就是智慧管理平台。它是管理者的“指挥中枢”，将枯燥的数据转化为直观的可视化看板、智能预警和自动报表，辅助管理人员进行科学决策。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从下到上，数据层层汇聚、加工；从上到下，指令精准下发、执行。这套架构打通了从“数据采集”到“分析计算”再到“管理决策”的全链路，真正实现了骨料管理的智能化升级。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 advTm="0">
        <p14:vortex dir="r"/>
      </p:transition>
    </mc:Choice>
    <mc:Fallback>
      <p:transition advTm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 advTm="0">
        <p14:vortex dir="r"/>
      </p:transition>
    </mc:Choice>
    <mc:Fallback>
      <p:transition advTm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 advTm="0">
        <p14:vortex dir="r"/>
      </p:transition>
    </mc:Choice>
    <mc:Fallback>
      <p:transition advTm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 advTm="0">
        <p14:vortex dir="r"/>
      </p:transition>
    </mc:Choice>
    <mc:Fallback>
      <p:transition advTm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 advTm="0">
        <p14:vortex dir="r"/>
      </p:transition>
    </mc:Choice>
    <mc:Fallback>
      <p:transition advTm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 advTm="0">
        <p14:vortex dir="r"/>
      </p:transition>
    </mc:Choice>
    <mc:Fallback>
      <p:transition advTm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 advTm="0">
        <p14:vortex dir="r"/>
      </p:transition>
    </mc:Choice>
    <mc:Fallback>
      <p:transition advTm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 advTm="0">
        <p14:vortex dir="r"/>
      </p:transition>
    </mc:Choice>
    <mc:Fallback>
      <p:transition advTm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 advTm="0">
        <p14:vortex dir="r"/>
      </p:transition>
    </mc:Choice>
    <mc:Fallback>
      <p:transition advTm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 advTm="0">
        <p14:vortex dir="r"/>
      </p:transition>
    </mc:Choice>
    <mc:Fallback>
      <p:transition advTm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 advTm="0">
        <p14:vortex dir="r"/>
      </p:transition>
    </mc:Choice>
    <mc:Fallback>
      <p:transition advTm="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>
          <a:xfrm>
            <a:off x="0" y="6635750"/>
            <a:ext cx="12191365" cy="2222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 advTm="0">
        <p14:vortex dir="r"/>
      </p:transition>
    </mc:Choice>
    <mc:Fallback>
      <p:transition advTm="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 advTm="0">
        <p14:vortex dir="r"/>
      </p:transition>
    </mc:Choice>
    <mc:Fallback>
      <p:transition advTm="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>
          <a:xfrm>
            <a:off x="0" y="6683638"/>
            <a:ext cx="12203853" cy="18045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"/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536180" y="111927"/>
            <a:ext cx="4407747" cy="539838"/>
          </a:xfrm>
          <a:prstGeom prst="rect">
            <a:avLst/>
          </a:prstGeom>
        </p:spPr>
      </p:pic>
      <p:grpSp>
        <p:nvGrpSpPr>
          <p:cNvPr id="53" name="组合 52"/>
          <p:cNvGrpSpPr/>
          <p:nvPr userDrawn="1"/>
        </p:nvGrpSpPr>
        <p:grpSpPr>
          <a:xfrm>
            <a:off x="0" y="112185"/>
            <a:ext cx="6248580" cy="719805"/>
            <a:chOff x="0" y="335151"/>
            <a:chExt cx="4686435" cy="600304"/>
          </a:xfrm>
          <a:solidFill>
            <a:srgbClr val="00B050"/>
          </a:solidFill>
        </p:grpSpPr>
        <p:sp>
          <p:nvSpPr>
            <p:cNvPr id="54" name="PA-任意多边形 8"/>
            <p:cNvSpPr/>
            <p:nvPr>
              <p:custDataLst>
                <p:tags r:id="rId3"/>
              </p:custDataLst>
            </p:nvPr>
          </p:nvSpPr>
          <p:spPr>
            <a:xfrm rot="10800000" flipH="1">
              <a:off x="0" y="438353"/>
              <a:ext cx="807021" cy="497102"/>
            </a:xfrm>
            <a:custGeom>
              <a:avLst/>
              <a:gdLst>
                <a:gd name="connsiteX0" fmla="*/ 0 w 807021"/>
                <a:gd name="connsiteY0" fmla="*/ 497102 h 497102"/>
                <a:gd name="connsiteX1" fmla="*/ 605236 w 807021"/>
                <a:gd name="connsiteY1" fmla="*/ 497102 h 497102"/>
                <a:gd name="connsiteX2" fmla="*/ 807021 w 807021"/>
                <a:gd name="connsiteY2" fmla="*/ 3498 h 497102"/>
                <a:gd name="connsiteX3" fmla="*/ 807021 w 807021"/>
                <a:gd name="connsiteY3" fmla="*/ 0 h 497102"/>
                <a:gd name="connsiteX4" fmla="*/ 0 w 807021"/>
                <a:gd name="connsiteY4" fmla="*/ 0 h 497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7021" h="497102">
                  <a:moveTo>
                    <a:pt x="0" y="497102"/>
                  </a:moveTo>
                  <a:lnTo>
                    <a:pt x="605236" y="497102"/>
                  </a:lnTo>
                  <a:lnTo>
                    <a:pt x="807021" y="3498"/>
                  </a:lnTo>
                  <a:lnTo>
                    <a:pt x="80702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88900" dist="88900" dir="5400000" algn="t" rotWithShape="0">
                <a:schemeClr val="accent1">
                  <a:lumMod val="40000"/>
                  <a:lumOff val="60000"/>
                  <a:alpha val="1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6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55" name="PA-任意多边形 11"/>
            <p:cNvSpPr/>
            <p:nvPr>
              <p:custDataLst>
                <p:tags r:id="rId4"/>
              </p:custDataLst>
            </p:nvPr>
          </p:nvSpPr>
          <p:spPr>
            <a:xfrm rot="10800000">
              <a:off x="647801" y="434338"/>
              <a:ext cx="4038634" cy="498329"/>
            </a:xfrm>
            <a:custGeom>
              <a:avLst/>
              <a:gdLst>
                <a:gd name="connsiteX0" fmla="*/ 4038634 w 4038634"/>
                <a:gd name="connsiteY0" fmla="*/ 498329 h 498329"/>
                <a:gd name="connsiteX1" fmla="*/ 3926287 w 4038634"/>
                <a:gd name="connsiteY1" fmla="*/ 498329 h 498329"/>
                <a:gd name="connsiteX2" fmla="*/ 3740235 w 4038634"/>
                <a:gd name="connsiteY2" fmla="*/ 43212 h 498329"/>
                <a:gd name="connsiteX3" fmla="*/ 3000392 w 4038634"/>
                <a:gd name="connsiteY3" fmla="*/ 43212 h 498329"/>
                <a:gd name="connsiteX4" fmla="*/ 2957498 w 4038634"/>
                <a:gd name="connsiteY4" fmla="*/ 43212 h 498329"/>
                <a:gd name="connsiteX5" fmla="*/ 2859365 w 4038634"/>
                <a:gd name="connsiteY5" fmla="*/ 43212 h 498329"/>
                <a:gd name="connsiteX6" fmla="*/ 2633685 w 4038634"/>
                <a:gd name="connsiteY6" fmla="*/ 43212 h 498329"/>
                <a:gd name="connsiteX7" fmla="*/ 2430936 w 4038634"/>
                <a:gd name="connsiteY7" fmla="*/ 43212 h 498329"/>
                <a:gd name="connsiteX8" fmla="*/ 2370520 w 4038634"/>
                <a:gd name="connsiteY8" fmla="*/ 43212 h 498329"/>
                <a:gd name="connsiteX9" fmla="*/ 2332804 w 4038634"/>
                <a:gd name="connsiteY9" fmla="*/ 43212 h 498329"/>
                <a:gd name="connsiteX10" fmla="*/ 2327625 w 4038634"/>
                <a:gd name="connsiteY10" fmla="*/ 43212 h 498329"/>
                <a:gd name="connsiteX11" fmla="*/ 2289909 w 4038634"/>
                <a:gd name="connsiteY11" fmla="*/ 43212 h 498329"/>
                <a:gd name="connsiteX12" fmla="*/ 2229493 w 4038634"/>
                <a:gd name="connsiteY12" fmla="*/ 43212 h 498329"/>
                <a:gd name="connsiteX13" fmla="*/ 2118394 w 4038634"/>
                <a:gd name="connsiteY13" fmla="*/ 43212 h 498329"/>
                <a:gd name="connsiteX14" fmla="*/ 2026744 w 4038634"/>
                <a:gd name="connsiteY14" fmla="*/ 43212 h 498329"/>
                <a:gd name="connsiteX15" fmla="*/ 1810861 w 4038634"/>
                <a:gd name="connsiteY15" fmla="*/ 43212 h 498329"/>
                <a:gd name="connsiteX16" fmla="*/ 1801064 w 4038634"/>
                <a:gd name="connsiteY16" fmla="*/ 43212 h 498329"/>
                <a:gd name="connsiteX17" fmla="*/ 1767966 w 4038634"/>
                <a:gd name="connsiteY17" fmla="*/ 43212 h 498329"/>
                <a:gd name="connsiteX18" fmla="*/ 1702932 w 4038634"/>
                <a:gd name="connsiteY18" fmla="*/ 43212 h 498329"/>
                <a:gd name="connsiteX19" fmla="*/ 1669834 w 4038634"/>
                <a:gd name="connsiteY19" fmla="*/ 43212 h 498329"/>
                <a:gd name="connsiteX20" fmla="*/ 1660037 w 4038634"/>
                <a:gd name="connsiteY20" fmla="*/ 43212 h 498329"/>
                <a:gd name="connsiteX21" fmla="*/ 1444154 w 4038634"/>
                <a:gd name="connsiteY21" fmla="*/ 43212 h 498329"/>
                <a:gd name="connsiteX22" fmla="*/ 1352504 w 4038634"/>
                <a:gd name="connsiteY22" fmla="*/ 43212 h 498329"/>
                <a:gd name="connsiteX23" fmla="*/ 1241405 w 4038634"/>
                <a:gd name="connsiteY23" fmla="*/ 43212 h 498329"/>
                <a:gd name="connsiteX24" fmla="*/ 1180989 w 4038634"/>
                <a:gd name="connsiteY24" fmla="*/ 43212 h 498329"/>
                <a:gd name="connsiteX25" fmla="*/ 1143273 w 4038634"/>
                <a:gd name="connsiteY25" fmla="*/ 43212 h 498329"/>
                <a:gd name="connsiteX26" fmla="*/ 1138094 w 4038634"/>
                <a:gd name="connsiteY26" fmla="*/ 43212 h 498329"/>
                <a:gd name="connsiteX27" fmla="*/ 1100378 w 4038634"/>
                <a:gd name="connsiteY27" fmla="*/ 43212 h 498329"/>
                <a:gd name="connsiteX28" fmla="*/ 1039962 w 4038634"/>
                <a:gd name="connsiteY28" fmla="*/ 43212 h 498329"/>
                <a:gd name="connsiteX29" fmla="*/ 837213 w 4038634"/>
                <a:gd name="connsiteY29" fmla="*/ 43212 h 498329"/>
                <a:gd name="connsiteX30" fmla="*/ 611533 w 4038634"/>
                <a:gd name="connsiteY30" fmla="*/ 43212 h 498329"/>
                <a:gd name="connsiteX31" fmla="*/ 513400 w 4038634"/>
                <a:gd name="connsiteY31" fmla="*/ 43212 h 498329"/>
                <a:gd name="connsiteX32" fmla="*/ 470506 w 4038634"/>
                <a:gd name="connsiteY32" fmla="*/ 43212 h 498329"/>
                <a:gd name="connsiteX33" fmla="*/ 0 w 4038634"/>
                <a:gd name="connsiteY33" fmla="*/ 43212 h 498329"/>
                <a:gd name="connsiteX34" fmla="*/ 0 w 4038634"/>
                <a:gd name="connsiteY34" fmla="*/ 0 h 498329"/>
                <a:gd name="connsiteX35" fmla="*/ 470506 w 4038634"/>
                <a:gd name="connsiteY35" fmla="*/ 0 h 498329"/>
                <a:gd name="connsiteX36" fmla="*/ 513400 w 4038634"/>
                <a:gd name="connsiteY36" fmla="*/ 0 h 498329"/>
                <a:gd name="connsiteX37" fmla="*/ 611533 w 4038634"/>
                <a:gd name="connsiteY37" fmla="*/ 0 h 498329"/>
                <a:gd name="connsiteX38" fmla="*/ 837213 w 4038634"/>
                <a:gd name="connsiteY38" fmla="*/ 0 h 498329"/>
                <a:gd name="connsiteX39" fmla="*/ 1039962 w 4038634"/>
                <a:gd name="connsiteY39" fmla="*/ 0 h 498329"/>
                <a:gd name="connsiteX40" fmla="*/ 1100378 w 4038634"/>
                <a:gd name="connsiteY40" fmla="*/ 0 h 498329"/>
                <a:gd name="connsiteX41" fmla="*/ 1138094 w 4038634"/>
                <a:gd name="connsiteY41" fmla="*/ 0 h 498329"/>
                <a:gd name="connsiteX42" fmla="*/ 1143273 w 4038634"/>
                <a:gd name="connsiteY42" fmla="*/ 0 h 498329"/>
                <a:gd name="connsiteX43" fmla="*/ 1180989 w 4038634"/>
                <a:gd name="connsiteY43" fmla="*/ 0 h 498329"/>
                <a:gd name="connsiteX44" fmla="*/ 1241405 w 4038634"/>
                <a:gd name="connsiteY44" fmla="*/ 0 h 498329"/>
                <a:gd name="connsiteX45" fmla="*/ 1352504 w 4038634"/>
                <a:gd name="connsiteY45" fmla="*/ 0 h 498329"/>
                <a:gd name="connsiteX46" fmla="*/ 1444154 w 4038634"/>
                <a:gd name="connsiteY46" fmla="*/ 0 h 498329"/>
                <a:gd name="connsiteX47" fmla="*/ 1660037 w 4038634"/>
                <a:gd name="connsiteY47" fmla="*/ 0 h 498329"/>
                <a:gd name="connsiteX48" fmla="*/ 1669834 w 4038634"/>
                <a:gd name="connsiteY48" fmla="*/ 0 h 498329"/>
                <a:gd name="connsiteX49" fmla="*/ 1702932 w 4038634"/>
                <a:gd name="connsiteY49" fmla="*/ 0 h 498329"/>
                <a:gd name="connsiteX50" fmla="*/ 1767966 w 4038634"/>
                <a:gd name="connsiteY50" fmla="*/ 0 h 498329"/>
                <a:gd name="connsiteX51" fmla="*/ 1801064 w 4038634"/>
                <a:gd name="connsiteY51" fmla="*/ 0 h 498329"/>
                <a:gd name="connsiteX52" fmla="*/ 1810861 w 4038634"/>
                <a:gd name="connsiteY52" fmla="*/ 0 h 498329"/>
                <a:gd name="connsiteX53" fmla="*/ 2026744 w 4038634"/>
                <a:gd name="connsiteY53" fmla="*/ 0 h 498329"/>
                <a:gd name="connsiteX54" fmla="*/ 2118394 w 4038634"/>
                <a:gd name="connsiteY54" fmla="*/ 0 h 498329"/>
                <a:gd name="connsiteX55" fmla="*/ 2229493 w 4038634"/>
                <a:gd name="connsiteY55" fmla="*/ 0 h 498329"/>
                <a:gd name="connsiteX56" fmla="*/ 2289909 w 4038634"/>
                <a:gd name="connsiteY56" fmla="*/ 0 h 498329"/>
                <a:gd name="connsiteX57" fmla="*/ 2327625 w 4038634"/>
                <a:gd name="connsiteY57" fmla="*/ 0 h 498329"/>
                <a:gd name="connsiteX58" fmla="*/ 2332804 w 4038634"/>
                <a:gd name="connsiteY58" fmla="*/ 0 h 498329"/>
                <a:gd name="connsiteX59" fmla="*/ 2370520 w 4038634"/>
                <a:gd name="connsiteY59" fmla="*/ 0 h 498329"/>
                <a:gd name="connsiteX60" fmla="*/ 2430936 w 4038634"/>
                <a:gd name="connsiteY60" fmla="*/ 0 h 498329"/>
                <a:gd name="connsiteX61" fmla="*/ 2633685 w 4038634"/>
                <a:gd name="connsiteY61" fmla="*/ 0 h 498329"/>
                <a:gd name="connsiteX62" fmla="*/ 2859365 w 4038634"/>
                <a:gd name="connsiteY62" fmla="*/ 0 h 498329"/>
                <a:gd name="connsiteX63" fmla="*/ 2957498 w 4038634"/>
                <a:gd name="connsiteY63" fmla="*/ 0 h 498329"/>
                <a:gd name="connsiteX64" fmla="*/ 3000392 w 4038634"/>
                <a:gd name="connsiteY64" fmla="*/ 0 h 498329"/>
                <a:gd name="connsiteX65" fmla="*/ 3722569 w 4038634"/>
                <a:gd name="connsiteY65" fmla="*/ 0 h 498329"/>
                <a:gd name="connsiteX66" fmla="*/ 3790068 w 4038634"/>
                <a:gd name="connsiteY66" fmla="*/ 0 h 498329"/>
                <a:gd name="connsiteX67" fmla="*/ 3834917 w 4038634"/>
                <a:gd name="connsiteY67" fmla="*/ 0 h 498329"/>
                <a:gd name="connsiteX68" fmla="*/ 4038634 w 4038634"/>
                <a:gd name="connsiteY68" fmla="*/ 498329 h 498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4038634" h="498329">
                  <a:moveTo>
                    <a:pt x="4038634" y="498329"/>
                  </a:moveTo>
                  <a:lnTo>
                    <a:pt x="3926287" y="498329"/>
                  </a:lnTo>
                  <a:lnTo>
                    <a:pt x="3740235" y="43212"/>
                  </a:lnTo>
                  <a:lnTo>
                    <a:pt x="3000392" y="43212"/>
                  </a:lnTo>
                  <a:lnTo>
                    <a:pt x="2957498" y="43212"/>
                  </a:lnTo>
                  <a:lnTo>
                    <a:pt x="2859365" y="43212"/>
                  </a:lnTo>
                  <a:lnTo>
                    <a:pt x="2633685" y="43212"/>
                  </a:lnTo>
                  <a:lnTo>
                    <a:pt x="2430936" y="43212"/>
                  </a:lnTo>
                  <a:lnTo>
                    <a:pt x="2370520" y="43212"/>
                  </a:lnTo>
                  <a:lnTo>
                    <a:pt x="2332804" y="43212"/>
                  </a:lnTo>
                  <a:lnTo>
                    <a:pt x="2327625" y="43212"/>
                  </a:lnTo>
                  <a:lnTo>
                    <a:pt x="2289909" y="43212"/>
                  </a:lnTo>
                  <a:lnTo>
                    <a:pt x="2229493" y="43212"/>
                  </a:lnTo>
                  <a:lnTo>
                    <a:pt x="2118394" y="43212"/>
                  </a:lnTo>
                  <a:lnTo>
                    <a:pt x="2026744" y="43212"/>
                  </a:lnTo>
                  <a:lnTo>
                    <a:pt x="1810861" y="43212"/>
                  </a:lnTo>
                  <a:lnTo>
                    <a:pt x="1801064" y="43212"/>
                  </a:lnTo>
                  <a:lnTo>
                    <a:pt x="1767966" y="43212"/>
                  </a:lnTo>
                  <a:lnTo>
                    <a:pt x="1702932" y="43212"/>
                  </a:lnTo>
                  <a:lnTo>
                    <a:pt x="1669834" y="43212"/>
                  </a:lnTo>
                  <a:lnTo>
                    <a:pt x="1660037" y="43212"/>
                  </a:lnTo>
                  <a:lnTo>
                    <a:pt x="1444154" y="43212"/>
                  </a:lnTo>
                  <a:lnTo>
                    <a:pt x="1352504" y="43212"/>
                  </a:lnTo>
                  <a:lnTo>
                    <a:pt x="1241405" y="43212"/>
                  </a:lnTo>
                  <a:lnTo>
                    <a:pt x="1180989" y="43212"/>
                  </a:lnTo>
                  <a:lnTo>
                    <a:pt x="1143273" y="43212"/>
                  </a:lnTo>
                  <a:lnTo>
                    <a:pt x="1138094" y="43212"/>
                  </a:lnTo>
                  <a:lnTo>
                    <a:pt x="1100378" y="43212"/>
                  </a:lnTo>
                  <a:lnTo>
                    <a:pt x="1039962" y="43212"/>
                  </a:lnTo>
                  <a:lnTo>
                    <a:pt x="837213" y="43212"/>
                  </a:lnTo>
                  <a:lnTo>
                    <a:pt x="611533" y="43212"/>
                  </a:lnTo>
                  <a:lnTo>
                    <a:pt x="513400" y="43212"/>
                  </a:lnTo>
                  <a:lnTo>
                    <a:pt x="470506" y="43212"/>
                  </a:lnTo>
                  <a:lnTo>
                    <a:pt x="0" y="43212"/>
                  </a:lnTo>
                  <a:lnTo>
                    <a:pt x="0" y="0"/>
                  </a:lnTo>
                  <a:lnTo>
                    <a:pt x="470506" y="0"/>
                  </a:lnTo>
                  <a:lnTo>
                    <a:pt x="513400" y="0"/>
                  </a:lnTo>
                  <a:lnTo>
                    <a:pt x="611533" y="0"/>
                  </a:lnTo>
                  <a:lnTo>
                    <a:pt x="837213" y="0"/>
                  </a:lnTo>
                  <a:lnTo>
                    <a:pt x="1039962" y="0"/>
                  </a:lnTo>
                  <a:lnTo>
                    <a:pt x="1100378" y="0"/>
                  </a:lnTo>
                  <a:lnTo>
                    <a:pt x="1138094" y="0"/>
                  </a:lnTo>
                  <a:lnTo>
                    <a:pt x="1143273" y="0"/>
                  </a:lnTo>
                  <a:lnTo>
                    <a:pt x="1180989" y="0"/>
                  </a:lnTo>
                  <a:lnTo>
                    <a:pt x="1241405" y="0"/>
                  </a:lnTo>
                  <a:lnTo>
                    <a:pt x="1352504" y="0"/>
                  </a:lnTo>
                  <a:lnTo>
                    <a:pt x="1444154" y="0"/>
                  </a:lnTo>
                  <a:lnTo>
                    <a:pt x="1660037" y="0"/>
                  </a:lnTo>
                  <a:lnTo>
                    <a:pt x="1669834" y="0"/>
                  </a:lnTo>
                  <a:lnTo>
                    <a:pt x="1702932" y="0"/>
                  </a:lnTo>
                  <a:lnTo>
                    <a:pt x="1767966" y="0"/>
                  </a:lnTo>
                  <a:lnTo>
                    <a:pt x="1801064" y="0"/>
                  </a:lnTo>
                  <a:lnTo>
                    <a:pt x="1810861" y="0"/>
                  </a:lnTo>
                  <a:lnTo>
                    <a:pt x="2026744" y="0"/>
                  </a:lnTo>
                  <a:lnTo>
                    <a:pt x="2118394" y="0"/>
                  </a:lnTo>
                  <a:lnTo>
                    <a:pt x="2229493" y="0"/>
                  </a:lnTo>
                  <a:lnTo>
                    <a:pt x="2289909" y="0"/>
                  </a:lnTo>
                  <a:lnTo>
                    <a:pt x="2327625" y="0"/>
                  </a:lnTo>
                  <a:lnTo>
                    <a:pt x="2332804" y="0"/>
                  </a:lnTo>
                  <a:lnTo>
                    <a:pt x="2370520" y="0"/>
                  </a:lnTo>
                  <a:lnTo>
                    <a:pt x="2430936" y="0"/>
                  </a:lnTo>
                  <a:lnTo>
                    <a:pt x="2633685" y="0"/>
                  </a:lnTo>
                  <a:lnTo>
                    <a:pt x="2859365" y="0"/>
                  </a:lnTo>
                  <a:lnTo>
                    <a:pt x="2957498" y="0"/>
                  </a:lnTo>
                  <a:lnTo>
                    <a:pt x="3000392" y="0"/>
                  </a:lnTo>
                  <a:lnTo>
                    <a:pt x="3722569" y="0"/>
                  </a:lnTo>
                  <a:lnTo>
                    <a:pt x="3790068" y="0"/>
                  </a:lnTo>
                  <a:lnTo>
                    <a:pt x="3834917" y="0"/>
                  </a:lnTo>
                  <a:lnTo>
                    <a:pt x="4038634" y="498329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88900" dist="88900" dir="5400000" algn="t" rotWithShape="0">
                <a:schemeClr val="accent1">
                  <a:lumMod val="40000"/>
                  <a:lumOff val="60000"/>
                  <a:alpha val="1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56" name="PA-任意多边形 12"/>
            <p:cNvSpPr/>
            <p:nvPr>
              <p:custDataLst>
                <p:tags r:id="rId5"/>
              </p:custDataLst>
            </p:nvPr>
          </p:nvSpPr>
          <p:spPr>
            <a:xfrm flipH="1">
              <a:off x="0" y="335151"/>
              <a:ext cx="1074488" cy="484968"/>
            </a:xfrm>
            <a:custGeom>
              <a:avLst/>
              <a:gdLst>
                <a:gd name="connsiteX0" fmla="*/ 421370 w 1074488"/>
                <a:gd name="connsiteY0" fmla="*/ 0 h 484968"/>
                <a:gd name="connsiteX1" fmla="*/ 310603 w 1074488"/>
                <a:gd name="connsiteY1" fmla="*/ 0 h 484968"/>
                <a:gd name="connsiteX2" fmla="*/ 285280 w 1074488"/>
                <a:gd name="connsiteY2" fmla="*/ 0 h 484968"/>
                <a:gd name="connsiteX3" fmla="*/ 243104 w 1074488"/>
                <a:gd name="connsiteY3" fmla="*/ 0 h 484968"/>
                <a:gd name="connsiteX4" fmla="*/ 198255 w 1074488"/>
                <a:gd name="connsiteY4" fmla="*/ 0 h 484968"/>
                <a:gd name="connsiteX5" fmla="*/ 0 w 1074488"/>
                <a:gd name="connsiteY5" fmla="*/ 484968 h 484968"/>
                <a:gd name="connsiteX6" fmla="*/ 112348 w 1074488"/>
                <a:gd name="connsiteY6" fmla="*/ 484968 h 484968"/>
                <a:gd name="connsiteX7" fmla="*/ 290441 w 1074488"/>
                <a:gd name="connsiteY7" fmla="*/ 49318 h 484968"/>
                <a:gd name="connsiteX8" fmla="*/ 401209 w 1074488"/>
                <a:gd name="connsiteY8" fmla="*/ 49318 h 484968"/>
                <a:gd name="connsiteX9" fmla="*/ 1074488 w 1074488"/>
                <a:gd name="connsiteY9" fmla="*/ 0 h 484968"/>
                <a:gd name="connsiteX10" fmla="*/ 421371 w 1074488"/>
                <a:gd name="connsiteY10" fmla="*/ 0 h 484968"/>
                <a:gd name="connsiteX11" fmla="*/ 401209 w 1074488"/>
                <a:gd name="connsiteY11" fmla="*/ 49318 h 484968"/>
                <a:gd name="connsiteX12" fmla="*/ 1074488 w 1074488"/>
                <a:gd name="connsiteY12" fmla="*/ 49318 h 484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74488" h="484968">
                  <a:moveTo>
                    <a:pt x="421370" y="0"/>
                  </a:moveTo>
                  <a:lnTo>
                    <a:pt x="310603" y="0"/>
                  </a:lnTo>
                  <a:lnTo>
                    <a:pt x="285280" y="0"/>
                  </a:lnTo>
                  <a:lnTo>
                    <a:pt x="243104" y="0"/>
                  </a:lnTo>
                  <a:lnTo>
                    <a:pt x="198255" y="0"/>
                  </a:lnTo>
                  <a:lnTo>
                    <a:pt x="0" y="484968"/>
                  </a:lnTo>
                  <a:lnTo>
                    <a:pt x="112348" y="484968"/>
                  </a:lnTo>
                  <a:lnTo>
                    <a:pt x="290441" y="49318"/>
                  </a:lnTo>
                  <a:lnTo>
                    <a:pt x="401209" y="49318"/>
                  </a:lnTo>
                  <a:close/>
                  <a:moveTo>
                    <a:pt x="1074488" y="0"/>
                  </a:moveTo>
                  <a:lnTo>
                    <a:pt x="421371" y="0"/>
                  </a:lnTo>
                  <a:lnTo>
                    <a:pt x="401209" y="49318"/>
                  </a:lnTo>
                  <a:lnTo>
                    <a:pt x="1074488" y="49318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88900" dist="88900" dir="5400000" algn="t" rotWithShape="0">
                <a:schemeClr val="accent1">
                  <a:lumMod val="40000"/>
                  <a:lumOff val="60000"/>
                  <a:alpha val="1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 advTm="0">
        <p14:vortex dir="r"/>
      </p:transition>
    </mc:Choice>
    <mc:Fallback>
      <p:transition advTm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p14:dur="100" advTm="0">
        <p14:vortex dir="r"/>
      </p:transition>
    </mc:Choice>
    <mc:Fallback>
      <p:transition advTm="0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mc:AlternateContent xmlns:mc="http://schemas.openxmlformats.org/markup-compatibility/2006">
    <mc:Choice xmlns:p14="http://schemas.microsoft.com/office/powerpoint/2010/main" Requires="p14">
      <p:transition p14:dur="100" advTm="0">
        <p14:vortex dir="r"/>
      </p:transition>
    </mc:Choice>
    <mc:Fallback>
      <p:transition advTm="0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4.xml"/><Relationship Id="rId2" Type="http://schemas.openxmlformats.org/officeDocument/2006/relationships/tags" Target="../tags/tag4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4.xml"/><Relationship Id="rId2" Type="http://schemas.openxmlformats.org/officeDocument/2006/relationships/tags" Target="../tags/tag5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2.xml"/><Relationship Id="rId8" Type="http://schemas.openxmlformats.org/officeDocument/2006/relationships/tags" Target="../tags/tag11.xml"/><Relationship Id="rId7" Type="http://schemas.openxmlformats.org/officeDocument/2006/relationships/image" Target="../media/image6.png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image" Target="../media/image5.png"/><Relationship Id="rId3" Type="http://schemas.openxmlformats.org/officeDocument/2006/relationships/tags" Target="../tags/tag8.xml"/><Relationship Id="rId2" Type="http://schemas.openxmlformats.org/officeDocument/2006/relationships/image" Target="../media/image4.png"/><Relationship Id="rId12" Type="http://schemas.openxmlformats.org/officeDocument/2006/relationships/notesSlide" Target="../notesSlides/notesSlide4.xml"/><Relationship Id="rId11" Type="http://schemas.openxmlformats.org/officeDocument/2006/relationships/slideLayout" Target="../slideLayouts/slideLayout14.xml"/><Relationship Id="rId10" Type="http://schemas.openxmlformats.org/officeDocument/2006/relationships/tags" Target="../tags/tag13.xml"/><Relationship Id="rId1" Type="http://schemas.openxmlformats.org/officeDocument/2006/relationships/tags" Target="../tags/tag7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4.xml"/><Relationship Id="rId5" Type="http://schemas.openxmlformats.org/officeDocument/2006/relationships/tags" Target="../tags/tag14.xml"/><Relationship Id="rId4" Type="http://schemas.openxmlformats.org/officeDocument/2006/relationships/image" Target="../media/image8.png"/><Relationship Id="rId3" Type="http://schemas.microsoft.com/office/2007/relationships/media" Target="../media/media1.mp4"/><Relationship Id="rId2" Type="http://schemas.openxmlformats.org/officeDocument/2006/relationships/video" Target="../media/media1.mp4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16" name="AutoShape 2"/>
          <p:cNvSpPr/>
          <p:nvPr/>
        </p:nvSpPr>
        <p:spPr>
          <a:xfrm>
            <a:off x="1445260" y="1524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项目进展情况</a:t>
            </a:r>
            <a:r>
              <a:rPr lang="zh-CN" altLang="en-US" sz="2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七</a:t>
            </a:r>
            <a:endParaRPr lang="zh-CN" altLang="en-US" sz="28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537710" y="5151755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小车电气</a:t>
            </a:r>
            <a:r>
              <a:rPr lang="zh-CN" altLang="en-US"/>
              <a:t>系统整体架构</a:t>
            </a:r>
            <a:endParaRPr lang="zh-CN" altLang="en-US"/>
          </a:p>
        </p:txBody>
      </p:sp>
      <p:pic>
        <p:nvPicPr>
          <p:cNvPr id="15" name="图片 14" descr="7662536751671722047.png~tplv-a9rns2rl98-image-face-cut_0_0_1667_948_1667_948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864870"/>
            <a:ext cx="12240000" cy="5842000"/>
          </a:xfrm>
          <a:prstGeom prst="rect">
            <a:avLst/>
          </a:prstGeom>
        </p:spPr>
      </p:pic>
      <p:sp>
        <p:nvSpPr>
          <p:cNvPr id="18" name="矩形 17"/>
          <p:cNvSpPr/>
          <p:nvPr/>
        </p:nvSpPr>
        <p:spPr>
          <a:xfrm>
            <a:off x="3702050" y="1362710"/>
            <a:ext cx="6976745" cy="4292600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6819900" y="1362710"/>
            <a:ext cx="5753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2">
                    <a:lumMod val="75000"/>
                  </a:schemeClr>
                </a:solidFill>
              </a:rPr>
              <a:t>小车</a:t>
            </a:r>
            <a:endParaRPr lang="zh-CN" altLang="en-US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232400" y="908050"/>
            <a:ext cx="2028825" cy="3340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4427855" y="5861050"/>
            <a:ext cx="2833370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3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骨料盘点电气系统架构图</a:t>
            </a:r>
            <a:endParaRPr lang="en-US" sz="13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18540" y="6152515"/>
            <a:ext cx="9210675" cy="491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13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 以西门子PLC为核心，集成激光雷达与伺服控制系统，通过5.8G无线网桥实现中控室与现场小车的高速、稳定数据交互，保障盘点任务的精准执行。</a:t>
            </a:r>
            <a:endParaRPr lang="en-US" altLang="en-US" sz="130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 advTm="0">
        <p14:vortex dir="r"/>
      </p:transition>
    </mc:Choice>
    <mc:Fallback>
      <p:transition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23" name="文本框 22"/>
          <p:cNvSpPr txBox="1"/>
          <p:nvPr/>
        </p:nvSpPr>
        <p:spPr>
          <a:xfrm>
            <a:off x="575310" y="1270000"/>
            <a:ext cx="5229225" cy="2378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 eaLnBrk="1" fontAlgn="auto" latinLnBrk="0" hangingPunct="1">
              <a:lnSpc>
                <a:spcPts val="2800"/>
              </a:lnSpc>
              <a:buFont typeface="Wingdings" panose="05000000000000000000" charset="0"/>
              <a:buChar char="u"/>
            </a:pPr>
            <a:r>
              <a:rPr lang="zh-CN" altLang="en-US" sz="1800" b="1">
                <a:ea typeface="宋体" panose="02010600030101010101" pitchFamily="2" charset="-122"/>
              </a:rPr>
              <a:t>基于西门子</a:t>
            </a:r>
            <a:r>
              <a:rPr lang="en-US" altLang="zh-CN" sz="1800" b="1">
                <a:ea typeface="宋体" panose="02010600030101010101" pitchFamily="2" charset="-122"/>
              </a:rPr>
              <a:t>S7-200 smart PLC</a:t>
            </a:r>
            <a:r>
              <a:rPr lang="zh-CN" altLang="en-US" sz="1800" b="1">
                <a:ea typeface="宋体" panose="02010600030101010101" pitchFamily="2" charset="-122"/>
              </a:rPr>
              <a:t>迭代运动控制</a:t>
            </a:r>
            <a:r>
              <a:rPr lang="zh-CN" altLang="en-US" sz="1800" b="1">
                <a:ea typeface="宋体" panose="02010600030101010101" pitchFamily="2" charset="-122"/>
              </a:rPr>
              <a:t>程序：</a:t>
            </a:r>
            <a:endParaRPr lang="zh-CN" altLang="en-US" sz="1800" b="1">
              <a:ea typeface="宋体" panose="02010600030101010101" pitchFamily="2" charset="-122"/>
            </a:endParaRPr>
          </a:p>
          <a:p>
            <a:pPr marL="0" indent="0" algn="l">
              <a:lnSpc>
                <a:spcPct val="108000"/>
              </a:lnSpc>
              <a:defRPr/>
            </a:pPr>
            <a:r>
              <a:rPr lang="en-US" altLang="zh-CN" sz="1800" b="1">
                <a:ea typeface="宋体" panose="02010600030101010101" pitchFamily="2" charset="-122"/>
              </a:rPr>
              <a:t>      </a:t>
            </a:r>
            <a:r>
              <a:rPr lang="en-US" sz="1800" b="1">
                <a:solidFill>
                  <a:srgbClr val="00B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伺服电机精准闭环控制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采用“脉冲+方向”控制模式，利用PLC高速脉冲输出（PTO）功能实现对电机位置、速度的精确闭环调节。通过多次迭代优化S型加减速曲线，有效抑制设备启停冲击，确保运动过程平稳无抖动，满足高精度工况的控制需求。</a:t>
            </a:r>
            <a:endParaRPr lang="en-US" altLang="zh-CN" sz="1800">
              <a:ea typeface="宋体" panose="02010600030101010101" pitchFamily="2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800" b="1">
                <a:solidFill>
                  <a:srgbClr val="00B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02 Modbus-RTU 工业通信组网</a:t>
            </a:r>
            <a:endParaRPr lang="en-US" sz="1800" b="1" i="0" u="none" strike="noStrike">
              <a:solidFill>
                <a:srgbClr val="00B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 搭建以PLC为主站的Modbus-RTU通信网络，实现与</a:t>
            </a:r>
            <a:r>
              <a:rPr lang="zh-CN" altLang="en-US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伺服</a:t>
            </a:r>
            <a:r>
              <a:rPr lang="en-US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器、</a:t>
            </a:r>
            <a:r>
              <a:rPr lang="zh-CN" altLang="en-US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电池包</a:t>
            </a:r>
            <a:r>
              <a:rPr lang="en-US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的双向数据交互。</a:t>
            </a:r>
            <a:endParaRPr lang="en-US" altLang="zh-CN" sz="1800">
              <a:ea typeface="宋体" panose="02010600030101010101" pitchFamily="2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800" b="1">
                <a:solidFill>
                  <a:srgbClr val="00B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03 状态机（FSM）逻辑架构设计</a:t>
            </a:r>
            <a:endParaRPr lang="en-US" sz="1800" b="1" i="0" u="none" strike="noStrike">
              <a:solidFill>
                <a:srgbClr val="00B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引入状态机设计模式，将系统运行分解为“初始化、待机、自动运行、手动调试、故障报警”五大核心状态。模块化的逻辑划分让程序结构清晰易懂，故障定位更高效，大幅提升了系统的鲁棒性与后期维护扩展性。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altLang="zh-CN" sz="1800">
                <a:ea typeface="宋体" panose="02010600030101010101" pitchFamily="2" charset="-122"/>
              </a:rPr>
              <a:t>  </a:t>
            </a:r>
            <a:endParaRPr lang="zh-CN" altLang="en-US" sz="1800">
              <a:ea typeface="宋体" panose="02010600030101010101" pitchFamily="2" charset="-122"/>
            </a:endParaRPr>
          </a:p>
        </p:txBody>
      </p:sp>
      <p:sp>
        <p:nvSpPr>
          <p:cNvPr id="16" name="AutoShape 2"/>
          <p:cNvSpPr/>
          <p:nvPr/>
        </p:nvSpPr>
        <p:spPr>
          <a:xfrm>
            <a:off x="1445260" y="1524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项目进展情况</a:t>
            </a:r>
            <a:r>
              <a:rPr lang="zh-CN" altLang="en-US" sz="2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七</a:t>
            </a:r>
            <a:endParaRPr lang="zh-CN" altLang="en-US" sz="28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8750" y="1270000"/>
            <a:ext cx="4591050" cy="462343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7877175" y="5965825"/>
            <a:ext cx="2849245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300" b="1">
                <a:solidFill>
                  <a:srgbClr val="00B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V2.1版本小车</a:t>
            </a:r>
            <a:r>
              <a:rPr lang="en-US" sz="1300" b="1">
                <a:solidFill>
                  <a:srgbClr val="00B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PLC程序逻辑</a:t>
            </a:r>
            <a:endParaRPr lang="en-US" sz="13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 advTm="0">
        <p14:vortex dir="r"/>
      </p:transition>
    </mc:Choice>
    <mc:Fallback>
      <p:transition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23" name="文本框 22"/>
          <p:cNvSpPr txBox="1"/>
          <p:nvPr/>
        </p:nvSpPr>
        <p:spPr>
          <a:xfrm>
            <a:off x="575310" y="1270000"/>
            <a:ext cx="4216400" cy="2378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 eaLnBrk="1" fontAlgn="auto" latinLnBrk="0" hangingPunct="1">
              <a:lnSpc>
                <a:spcPts val="2800"/>
              </a:lnSpc>
              <a:buFont typeface="Wingdings" panose="05000000000000000000" charset="0"/>
              <a:buNone/>
            </a:pPr>
            <a:r>
              <a:rPr lang="en-US" sz="1800" b="1">
                <a:solidFill>
                  <a:srgbClr val="00B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遇到的问题</a:t>
            </a:r>
            <a:r>
              <a:rPr lang="zh-CN" altLang="en-US" sz="1800" b="1">
                <a:solidFill>
                  <a:srgbClr val="00B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endParaRPr lang="en-US" sz="1800"/>
          </a:p>
          <a:p>
            <a:pPr marL="0" indent="0" eaLnBrk="1" fontAlgn="auto" latinLnBrk="0" hangingPunct="1">
              <a:lnSpc>
                <a:spcPts val="2800"/>
              </a:lnSpc>
              <a:buFont typeface="Wingdings" panose="05000000000000000000" charset="0"/>
              <a:buNone/>
            </a:pPr>
            <a:r>
              <a:rPr lang="en-US" altLang="zh-CN" sz="1800" b="1">
                <a:ea typeface="宋体" panose="02010600030101010101" pitchFamily="2" charset="-122"/>
              </a:rPr>
              <a:t>     </a:t>
            </a:r>
            <a:r>
              <a:rPr lang="en-US" sz="15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（1）</a:t>
            </a:r>
            <a:r>
              <a:rPr lang="zh-CN" altLang="en-US" sz="15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各项目</a:t>
            </a:r>
            <a:r>
              <a:rPr lang="en-US" sz="15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料仓工</a:t>
            </a:r>
            <a:r>
              <a:rPr lang="zh-CN" altLang="en-US" sz="15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况</a:t>
            </a:r>
            <a:r>
              <a:rPr lang="en-US" sz="15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不同，</a:t>
            </a:r>
            <a:r>
              <a:rPr lang="zh-CN" altLang="en-US" sz="15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导致调试参数需反复调整，现场依赖专业人员，调试周期长，人力成本高。</a:t>
            </a:r>
            <a:endParaRPr lang="zh-CN" altLang="en-US" sz="15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 eaLnBrk="1" fontAlgn="auto" latinLnBrk="0" hangingPunct="1">
              <a:lnSpc>
                <a:spcPts val="2800"/>
              </a:lnSpc>
              <a:buFont typeface="Wingdings" panose="05000000000000000000" charset="0"/>
              <a:buNone/>
            </a:pPr>
            <a:r>
              <a:rPr lang="en-US" sz="15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      （2）小车</a:t>
            </a:r>
            <a:r>
              <a:rPr lang="zh-CN" altLang="en-US" sz="15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采用伺服</a:t>
            </a:r>
            <a:r>
              <a:rPr lang="en-US" sz="15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提升</a:t>
            </a:r>
            <a:r>
              <a:rPr lang="en-US" sz="15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速度</a:t>
            </a:r>
            <a:r>
              <a:rPr lang="en-US" sz="15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后，</a:t>
            </a:r>
            <a:r>
              <a:rPr lang="zh-CN" altLang="en-US" sz="15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小车在定位末端频繁出现过冲现象，同时传感器灵敏度降低，导致位置计数误差增大，影响系统稳定性。</a:t>
            </a:r>
            <a:endParaRPr lang="zh-CN" altLang="en-US" sz="15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 eaLnBrk="1" fontAlgn="auto" latinLnBrk="0" hangingPunct="1">
              <a:lnSpc>
                <a:spcPts val="2800"/>
              </a:lnSpc>
              <a:buFont typeface="Wingdings" panose="05000000000000000000" charset="0"/>
              <a:buNone/>
            </a:pPr>
            <a:r>
              <a:rPr lang="en-US" sz="15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    </a:t>
            </a:r>
            <a:endParaRPr lang="en-US" sz="15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AutoShape 2"/>
          <p:cNvSpPr/>
          <p:nvPr/>
        </p:nvSpPr>
        <p:spPr>
          <a:xfrm>
            <a:off x="1445260" y="1524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项目进展情况</a:t>
            </a:r>
            <a:r>
              <a:rPr lang="zh-CN" altLang="en-US" sz="2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七</a:t>
            </a:r>
            <a:endParaRPr lang="zh-CN" altLang="en-US" sz="28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759575" y="1397000"/>
            <a:ext cx="4216400" cy="2378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 eaLnBrk="1" fontAlgn="auto" latinLnBrk="0" hangingPunct="1">
              <a:lnSpc>
                <a:spcPts val="2800"/>
              </a:lnSpc>
              <a:buSzTx/>
              <a:buFont typeface="Wingdings" panose="05000000000000000000" charset="0"/>
            </a:pPr>
            <a:r>
              <a:rPr lang="en-US" sz="1800" b="1">
                <a:solidFill>
                  <a:srgbClr val="00B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解决方案：</a:t>
            </a:r>
            <a:endParaRPr lang="en-US" sz="1800" b="1">
              <a:solidFill>
                <a:srgbClr val="00B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 eaLnBrk="1" fontAlgn="auto" latinLnBrk="0" hangingPunct="1">
              <a:lnSpc>
                <a:spcPts val="2800"/>
              </a:lnSpc>
              <a:buFont typeface="Wingdings" panose="05000000000000000000" charset="0"/>
              <a:buNone/>
            </a:pPr>
            <a:r>
              <a:rPr lang="en-US" altLang="zh-CN" sz="1800" b="1">
                <a:ea typeface="宋体" panose="02010600030101010101" pitchFamily="2" charset="-122"/>
              </a:rPr>
              <a:t>     </a:t>
            </a:r>
            <a:r>
              <a:rPr lang="en-US" sz="15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（1）</a:t>
            </a:r>
            <a:r>
              <a:rPr lang="en-US" sz="15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利用AI工具开发</a:t>
            </a:r>
            <a:r>
              <a:rPr lang="zh-CN" altLang="en-US" sz="15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一款</a:t>
            </a:r>
            <a:r>
              <a:rPr lang="en-US" sz="15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调试上位机软件，实现简化操作，一建设置参数，</a:t>
            </a:r>
            <a:r>
              <a:rPr lang="zh-CN" altLang="en-US" sz="15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显著降低了对现场人员技术经验的依赖，极大提升了调试效率。</a:t>
            </a:r>
            <a:endParaRPr lang="zh-CN" altLang="en-US" sz="15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+mn-ea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5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      （2）</a:t>
            </a:r>
            <a:r>
              <a:rPr lang="en-US" sz="15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动态参数预设：摒弃固定减速模式，为每个仓位独立配置“减速触发阈值”和“低速段速度”参数，适配不同位置的物理特性。</a:t>
            </a:r>
            <a:endParaRPr lang="en-US" sz="15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 advTm="0">
        <p14:vortex dir="r"/>
      </p:transition>
    </mc:Choice>
    <mc:Fallback>
      <p:transition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16" name="AutoShape 2"/>
          <p:cNvSpPr/>
          <p:nvPr/>
        </p:nvSpPr>
        <p:spPr>
          <a:xfrm>
            <a:off x="1445260" y="1524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项目进展情况</a:t>
            </a:r>
            <a:r>
              <a:rPr lang="zh-CN" altLang="en-US" sz="2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七</a:t>
            </a:r>
            <a:endParaRPr lang="zh-CN" altLang="en-US" sz="28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4" name="图片 3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5250" y="1821815"/>
            <a:ext cx="3240000" cy="2880000"/>
          </a:xfrm>
          <a:prstGeom prst="rect">
            <a:avLst/>
          </a:prstGeom>
        </p:spPr>
      </p:pic>
      <p:pic>
        <p:nvPicPr>
          <p:cNvPr id="5" name="图片 4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297680" y="1821815"/>
            <a:ext cx="3240000" cy="2880000"/>
          </a:xfrm>
          <a:prstGeom prst="rect">
            <a:avLst/>
          </a:prstGeom>
        </p:spPr>
      </p:pic>
      <p:sp>
        <p:nvSpPr>
          <p:cNvPr id="6" name="右箭头 5"/>
          <p:cNvSpPr/>
          <p:nvPr>
            <p:custDataLst>
              <p:tags r:id="rId5"/>
            </p:custDataLst>
          </p:nvPr>
        </p:nvSpPr>
        <p:spPr>
          <a:xfrm>
            <a:off x="3566160" y="3141980"/>
            <a:ext cx="575310" cy="24066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6"/>
            </p:custDataLst>
          </p:nvPr>
        </p:nvSpPr>
        <p:spPr>
          <a:xfrm>
            <a:off x="685800" y="4843780"/>
            <a:ext cx="2833370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3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骨料调试上位机V1.0</a:t>
            </a:r>
            <a:endParaRPr lang="en-US" sz="13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279890" y="4843780"/>
            <a:ext cx="2833370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3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小车调试上位机</a:t>
            </a:r>
            <a:r>
              <a:rPr lang="en-US" sz="13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V2.1</a:t>
            </a:r>
            <a:endParaRPr lang="en-US" sz="13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8" name="图片 7"/>
          <p:cNvPicPr/>
          <p:nvPr/>
        </p:nvPicPr>
        <p:blipFill>
          <a:blip r:embed="rId7"/>
          <a:stretch>
            <a:fillRect/>
          </a:stretch>
        </p:blipFill>
        <p:spPr>
          <a:xfrm>
            <a:off x="8500110" y="1822450"/>
            <a:ext cx="3240000" cy="2880000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5072380" y="4843780"/>
            <a:ext cx="2833370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3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骨料调试上位机V2.0</a:t>
            </a:r>
            <a:endParaRPr lang="en-US" sz="13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右箭头 9"/>
          <p:cNvSpPr/>
          <p:nvPr>
            <p:custDataLst>
              <p:tags r:id="rId9"/>
            </p:custDataLst>
          </p:nvPr>
        </p:nvSpPr>
        <p:spPr>
          <a:xfrm>
            <a:off x="7824470" y="3141980"/>
            <a:ext cx="575310" cy="24066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85800" y="5354320"/>
            <a:ext cx="9876155" cy="18561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 eaLnBrk="1" fontAlgn="auto" latinLnBrk="0" hangingPunct="1">
              <a:lnSpc>
                <a:spcPts val="2800"/>
              </a:lnSpc>
              <a:buFont typeface="Wingdings" panose="05000000000000000000" charset="0"/>
              <a:buNone/>
            </a:pPr>
            <a:r>
              <a:rPr lang="en-US" sz="1600" b="1">
                <a:solidFill>
                  <a:srgbClr val="00B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工具价值与核心成果：</a:t>
            </a:r>
            <a:endParaRPr lang="en-US" sz="1600" b="1">
              <a:solidFill>
                <a:srgbClr val="00B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  <a:defRPr/>
            </a:pPr>
            <a:r>
              <a:rPr lang="en-US" altLang="zh-CN" sz="1800" b="1">
                <a:ea typeface="宋体" panose="02010600030101010101" pitchFamily="2" charset="-122"/>
              </a:rPr>
              <a:t>     </a:t>
            </a:r>
            <a:r>
              <a:rPr lang="en-US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依托AI辅助开发的上位机调试工具，依托AI辅助开发的上位机调试工具，大幅降低现场调试复杂度，为项目的快速部署与高效运维提供了坚实的技术保障。</a:t>
            </a:r>
            <a:endParaRPr lang="en-US" sz="1100"/>
          </a:p>
          <a:p>
            <a:pPr marL="0" indent="0" eaLnBrk="1" fontAlgn="auto" latinLnBrk="0" hangingPunct="1">
              <a:lnSpc>
                <a:spcPts val="2800"/>
              </a:lnSpc>
              <a:buFont typeface="Wingdings" panose="05000000000000000000" charset="0"/>
              <a:buNone/>
            </a:pPr>
            <a:endParaRPr lang="en-US" sz="140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  <p:custDataLst>
      <p:tags r:id="rId1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 advTm="0">
        <p14:vortex dir="r"/>
      </p:transition>
    </mc:Choice>
    <mc:Fallback>
      <p:transition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16" name="AutoShape 2"/>
          <p:cNvSpPr/>
          <p:nvPr/>
        </p:nvSpPr>
        <p:spPr>
          <a:xfrm>
            <a:off x="1445260" y="1524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项目进展情况</a:t>
            </a:r>
            <a:r>
              <a:rPr lang="zh-CN" altLang="en-US" sz="2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七</a:t>
            </a:r>
            <a:endParaRPr lang="zh-CN" altLang="en-US" sz="28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300355" y="1656715"/>
            <a:ext cx="5400000" cy="326199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044065" y="4983480"/>
            <a:ext cx="1612265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3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点云可视化验证</a:t>
            </a:r>
            <a:endParaRPr lang="en-US" sz="13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7" name="屏幕录制 2026-07-15 101700">
            <a:hlinkClick r:id="" action="ppaction://media"/>
          </p:cNvPr>
          <p:cNvPicPr/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487795" y="1656715"/>
            <a:ext cx="5252085" cy="326136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8307705" y="5054600"/>
            <a:ext cx="1612265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3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点云生成过程</a:t>
            </a:r>
            <a:endParaRPr lang="en-US" sz="13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85800" y="5354320"/>
            <a:ext cx="9876155" cy="12350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 algn="l">
              <a:lnSpc>
                <a:spcPct val="108000"/>
              </a:lnSpc>
              <a:defRPr/>
            </a:pPr>
            <a:r>
              <a:rPr lang="zh-CN" altLang="en-US" b="1">
                <a:solidFill>
                  <a:srgbClr val="00B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探索点云</a:t>
            </a:r>
            <a:r>
              <a:rPr lang="en-US" b="1">
                <a:solidFill>
                  <a:srgbClr val="00B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技术栈</a:t>
            </a:r>
            <a:r>
              <a:rPr lang="zh-CN" altLang="en-US" b="1">
                <a:solidFill>
                  <a:srgbClr val="00B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en-US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初步依托AI</a:t>
            </a:r>
            <a:r>
              <a:rPr lang="zh-CN" altLang="en-US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工具和</a:t>
            </a:r>
            <a:r>
              <a:rPr lang="en-US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开源生态构建高精度处理体系，利用</a:t>
            </a:r>
            <a:r>
              <a:rPr lang="en-US" b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PCL (点云库)</a:t>
            </a:r>
            <a:r>
              <a:rPr lang="en-US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实现滤波去噪、特征提取与三维建模，结合</a:t>
            </a:r>
            <a:r>
              <a:rPr lang="en-US" b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VTK (可视化工具库)</a:t>
            </a:r>
            <a:r>
              <a:rPr lang="en-US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实现堆体形态的实时渲染与交互展示。</a:t>
            </a:r>
            <a:endParaRPr lang="zh-CN" altLang="en-US" sz="1800" b="1">
              <a:ea typeface="宋体" panose="02010600030101010101" pitchFamily="2" charset="-122"/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 advTm="0">
        <p14:vortex dir="r"/>
      </p:transition>
    </mc:Choice>
    <mc:Fallback>
      <p:transition advTm="0">
        <p:fade/>
      </p:transition>
    </mc:Fallback>
  </mc:AlternateContent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PA" val="v5.2.11"/>
</p:tagLst>
</file>

<file path=ppt/tags/tag2.xml><?xml version="1.0" encoding="utf-8"?>
<p:tagLst xmlns:p="http://schemas.openxmlformats.org/presentationml/2006/main">
  <p:tag name="PA" val="v5.2.11"/>
</p:tagLst>
</file>

<file path=ppt/tags/tag3.xml><?xml version="1.0" encoding="utf-8"?>
<p:tagLst xmlns:p="http://schemas.openxmlformats.org/presentationml/2006/main">
  <p:tag name="PA" val="v5.2.11"/>
</p:tagLst>
</file>

<file path=ppt/tags/tag4.xml><?xml version="1.0" encoding="utf-8"?>
<p:tagLst xmlns:p="http://schemas.openxmlformats.org/presentationml/2006/main">
  <p:tag name="KSO_WM_AICARD_INVALID" val="Invalid"/>
</p:tagLst>
</file>

<file path=ppt/tags/tag5.xml><?xml version="1.0" encoding="utf-8"?>
<p:tagLst xmlns:p="http://schemas.openxmlformats.org/presentationml/2006/main">
  <p:tag name="KSO_WM_AICARD_INVALID" val="Invalid"/>
</p:tagLst>
</file>

<file path=ppt/tags/tag6.xml><?xml version="1.0" encoding="utf-8"?>
<p:tagLst xmlns:p="http://schemas.openxmlformats.org/presentationml/2006/main">
  <p:tag name="KSO_WM_AICARD_INVALID" val="Invalid"/>
</p:tagLst>
</file>

<file path=ppt/tags/tag7.xml><?xml version="1.0" encoding="utf-8"?>
<p:tagLst xmlns:p="http://schemas.openxmlformats.org/presentationml/2006/main">
  <p:tag name="KSO_WM_DIAGRAM_VIRTUALLY_FRAME" val="{&quot;height&quot;:260.9,&quot;left&quot;:7.5,&quot;top&quot;:143.45,&quot;width&quot;:653.9}"/>
</p:tagLst>
</file>

<file path=ppt/tags/tag8.xml><?xml version="1.0" encoding="utf-8"?>
<p:tagLst xmlns:p="http://schemas.openxmlformats.org/presentationml/2006/main">
  <p:tag name="KSO_WM_DIAGRAM_VIRTUALLY_FRAME" val="{&quot;height&quot;:260.9,&quot;left&quot;:7.5,&quot;top&quot;:143.45,&quot;width&quot;:653.9}"/>
</p:tagLst>
</file>

<file path=ppt/tags/tag9.xml><?xml version="1.0" encoding="utf-8"?>
<p:tagLst xmlns:p="http://schemas.openxmlformats.org/presentationml/2006/main">
  <p:tag name="KSO_WM_DIAGRAM_VIRTUALLY_FRAME" val="{&quot;height&quot;:260.9,&quot;left&quot;:7.5,&quot;top&quot;:143.45,&quot;width&quot;:653.9}"/>
</p:tagLst>
</file>

<file path=ppt/tags/tag10.xml><?xml version="1.0" encoding="utf-8"?>
<p:tagLst xmlns:p="http://schemas.openxmlformats.org/presentationml/2006/main">
  <p:tag name="KSO_WM_DIAGRAM_VIRTUALLY_FRAME" val="{&quot;height&quot;:260.9,&quot;left&quot;:7.5,&quot;top&quot;:143.45,&quot;width&quot;:653.9}"/>
</p:tagLst>
</file>

<file path=ppt/tags/tag11.xml><?xml version="1.0" encoding="utf-8"?>
<p:tagLst xmlns:p="http://schemas.openxmlformats.org/presentationml/2006/main">
  <p:tag name="KSO_WM_DIAGRAM_VIRTUALLY_FRAME" val="{&quot;height&quot;:260.9,&quot;left&quot;:7.5,&quot;top&quot;:143.45,&quot;width&quot;:653.9}"/>
</p:tagLst>
</file>

<file path=ppt/tags/tag12.xml><?xml version="1.0" encoding="utf-8"?>
<p:tagLst xmlns:p="http://schemas.openxmlformats.org/presentationml/2006/main">
  <p:tag name="KSO_WM_DIAGRAM_VIRTUALLY_FRAME" val="{&quot;height&quot;:260.9,&quot;left&quot;:7.5,&quot;top&quot;:143.45,&quot;width&quot;:653.9}"/>
</p:tagLst>
</file>

<file path=ppt/tags/tag13.xml><?xml version="1.0" encoding="utf-8"?>
<p:tagLst xmlns:p="http://schemas.openxmlformats.org/presentationml/2006/main">
  <p:tag name="KSO_WM_AICARD_INVALID" val="Invalid"/>
</p:tagLst>
</file>

<file path=ppt/tags/tag14.xml><?xml version="1.0" encoding="utf-8"?>
<p:tagLst xmlns:p="http://schemas.openxmlformats.org/presentationml/2006/main">
  <p:tag name="KSO_WM_AICARD_INVALID" val="Invalid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1006</Words>
  <Application>WPS 演示</Application>
  <PresentationFormat/>
  <Paragraphs>54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6" baseType="lpstr">
      <vt:lpstr>Arial</vt:lpstr>
      <vt:lpstr>宋体</vt:lpstr>
      <vt:lpstr>Wingdings</vt:lpstr>
      <vt:lpstr>Arial</vt:lpstr>
      <vt:lpstr>等线</vt:lpstr>
      <vt:lpstr>Noto Sans SC</vt:lpstr>
      <vt:lpstr>Wingdings</vt:lpstr>
      <vt:lpstr>微软雅黑</vt:lpstr>
      <vt:lpstr>Arial Unicode MS</vt:lpstr>
      <vt:lpstr>Office 主题​​</vt:lpstr>
      <vt:lpstr>1_默认主题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请叫我浩子╱╱</cp:lastModifiedBy>
  <cp:revision>81</cp:revision>
  <dcterms:created xsi:type="dcterms:W3CDTF">2026-04-17T01:40:00Z</dcterms:created>
  <dcterms:modified xsi:type="dcterms:W3CDTF">2026-07-15T04:15:22Z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F30A6C75A71E405EB9CBD8B77B89D716_12</vt:lpwstr>
  </property>
</Properties>
</file>