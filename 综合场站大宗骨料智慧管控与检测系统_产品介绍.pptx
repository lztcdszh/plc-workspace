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5F8FB"/>
              </a:gs>
              <a:gs pos="100000">
                <a:srgbClr val="FFFFFF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48840"/>
            <a:ext cx="128016" cy="23774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21408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综合场站大宗骨料</a:t>
            </a:r>
            <a:endParaRPr sz="50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智慧管控与检测系统</a:t>
            </a:r>
            <a:endParaRPr sz="50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2415" y="42062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产品介绍</a:t>
            </a:r>
            <a:endParaRPr sz="3200" b="1">
              <a:solidFill>
                <a:srgbClr val="22C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2415" y="4882896"/>
            <a:ext cx="2194560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59436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山东高速工程装备科技有限公司   |   2026</a:t>
            </a:r>
            <a:endParaRPr sz="18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9509760" y="640080"/>
            <a:ext cx="2377440" cy="2377440"/>
          </a:xfrm>
          <a:prstGeom prst="ellipse">
            <a:avLst/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49840" y="1097280"/>
            <a:ext cx="197510" cy="19751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57078" y="1152144"/>
            <a:ext cx="120700" cy="12070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43616" y="1207008"/>
            <a:ext cx="76809" cy="76809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26864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5F8FB"/>
              </a:gs>
              <a:gs pos="100000">
                <a:srgbClr val="FFFFFF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gradFill>
            <a:gsLst>
              <a:gs pos="0">
                <a:srgbClr val="22C55E"/>
              </a:gs>
              <a:gs pos="100000">
                <a:srgbClr val="10B981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8404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2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产品定位</a:t>
            </a:r>
            <a:endParaRPr sz="2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280160" cy="1280160"/>
          </a:xfrm>
          <a:prstGeom prst="ellipse">
            <a:avLst/>
          </a:prstGeom>
          <a:noFill/>
          <a:ln w="1651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640080"/>
            <a:ext cx="148132" cy="1481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3188" y="681228"/>
            <a:ext cx="90525" cy="90525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23092" y="722376"/>
            <a:ext cx="57607" cy="57607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6583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「智慧骨料管家」</a:t>
            </a:r>
            <a:endParaRPr sz="38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38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骨料管理的“数字大脑”</a:t>
            </a:r>
            <a:endParaRPr sz="38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640080" y="32461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2C55E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640080" y="326440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1280160" y="3209544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自动盘点</a:t>
            </a:r>
            <a:endParaRPr sz="2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1280160" y="3593591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库存自动采集，告别人工估算</a:t>
            </a:r>
            <a:endParaRPr sz="15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5"/>
            </p:custDataLst>
          </p:nvPr>
        </p:nvSpPr>
        <p:spPr>
          <a:xfrm>
            <a:off x="640080" y="3995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2C55E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640080" y="401421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1280160" y="395935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质量在线检测</a:t>
            </a:r>
            <a:endParaRPr sz="2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1280160" y="4343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全过程质量数据实时可溯</a:t>
            </a:r>
            <a:endParaRPr sz="15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>
            <p:custDataLst>
              <p:tags r:id="rId9"/>
            </p:custDataLst>
          </p:nvPr>
        </p:nvSpPr>
        <p:spPr>
          <a:xfrm>
            <a:off x="640080" y="47457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2C55E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640080" y="4764024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1280160" y="470916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数据闭环</a:t>
            </a:r>
            <a:endParaRPr sz="2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1280160" y="509320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采集—分析—管控全链路打通</a:t>
            </a:r>
            <a:endParaRPr sz="15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3"/>
            </p:custDataLst>
          </p:nvPr>
        </p:nvSpPr>
        <p:spPr>
          <a:xfrm>
            <a:off x="640080" y="549554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2C55E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640080" y="5513832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1280160" y="5458968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智能调度管控</a:t>
            </a:r>
            <a:endParaRPr sz="2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6"/>
            </p:custDataLst>
          </p:nvPr>
        </p:nvSpPr>
        <p:spPr>
          <a:xfrm>
            <a:off x="1280160" y="584301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料仓状态可视，调度有据可依</a:t>
            </a:r>
            <a:endParaRPr sz="15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 混凝土搅拌站 · 建材综合场站 · 砂石骨料加工</a:t>
            </a:r>
            <a:endParaRPr sz="16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333487" y="1755648"/>
            <a:ext cx="4352544" cy="33064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06_p10_236x23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8079" y="1920240"/>
            <a:ext cx="4023360" cy="37697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5F8FB"/>
              </a:gs>
              <a:gs pos="100000">
                <a:srgbClr val="FFFFFF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gradFill>
            <a:gsLst>
              <a:gs pos="0">
                <a:srgbClr val="22C55E"/>
              </a:gs>
              <a:gs pos="100000">
                <a:srgbClr val="10B981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8404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2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解决方案</a:t>
            </a:r>
            <a:endParaRPr sz="2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280160" cy="1280160"/>
          </a:xfrm>
          <a:prstGeom prst="ellipse">
            <a:avLst/>
          </a:prstGeom>
          <a:noFill/>
          <a:ln w="1651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640080"/>
            <a:ext cx="148132" cy="1481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3188" y="681228"/>
            <a:ext cx="90525" cy="90525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23092" y="722376"/>
            <a:ext cx="57607" cy="57607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" y="1298448"/>
            <a:ext cx="5815584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7_p12_613x45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486400" cy="4052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0" y="146304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三位一体</a:t>
            </a:r>
            <a:endParaRPr sz="38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38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智能化装备系统</a:t>
            </a:r>
            <a:endParaRPr sz="38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2"/>
            </p:custDataLst>
          </p:nvPr>
        </p:nvSpPr>
        <p:spPr>
          <a:xfrm>
            <a:off x="6583680" y="3291840"/>
            <a:ext cx="146304" cy="7772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6903720" y="327355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硬件感知</a:t>
            </a:r>
            <a:endParaRPr sz="23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6903720" y="363931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导轨机器人 + 激光雷达，料堆三维采集</a:t>
            </a:r>
            <a:endParaRPr sz="15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5"/>
            </p:custDataLst>
          </p:nvPr>
        </p:nvSpPr>
        <p:spPr>
          <a:xfrm>
            <a:off x="6583680" y="4206240"/>
            <a:ext cx="146304" cy="7772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6903720" y="418795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算法决策</a:t>
            </a:r>
            <a:endParaRPr sz="23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7"/>
            </p:custDataLst>
          </p:nvPr>
        </p:nvSpPr>
        <p:spPr>
          <a:xfrm>
            <a:off x="6903720" y="4553712"/>
            <a:ext cx="457200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zh-CN" sz="15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</a:t>
            </a:r>
            <a:r>
              <a:rPr sz="15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点云处理</a:t>
            </a:r>
            <a:r>
              <a:rPr lang="zh-CN" sz="15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r>
              <a:rPr sz="15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，体积与质量精准测算</a:t>
            </a:r>
            <a:endParaRPr sz="15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8"/>
            </p:custDataLst>
          </p:nvPr>
        </p:nvSpPr>
        <p:spPr>
          <a:xfrm>
            <a:off x="6583680" y="5120640"/>
            <a:ext cx="146304" cy="7772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6903720" y="510235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平台管控</a:t>
            </a:r>
            <a:endParaRPr sz="23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6903720" y="546811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可视化看板 + 报表，全流程数字化</a:t>
            </a:r>
            <a:endParaRPr sz="15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0" y="6172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 激光雷达 · 三维点云 · 工业物联网 · AI</a:t>
            </a:r>
            <a:endParaRPr sz="1500" b="0">
              <a:solidFill>
                <a:srgbClr val="22C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5F8FB"/>
              </a:gs>
              <a:gs pos="100000">
                <a:srgbClr val="FFFFFF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gradFill>
            <a:gsLst>
              <a:gs pos="0">
                <a:srgbClr val="22C55E"/>
              </a:gs>
              <a:gs pos="100000">
                <a:srgbClr val="10B981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8404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sz="2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核心硬件</a:t>
            </a:r>
            <a:endParaRPr sz="2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280160" cy="1280160"/>
          </a:xfrm>
          <a:prstGeom prst="ellipse">
            <a:avLst/>
          </a:prstGeom>
          <a:noFill/>
          <a:ln w="1651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640080"/>
            <a:ext cx="148132" cy="1481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3188" y="681228"/>
            <a:ext cx="90525" cy="90525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23092" y="722376"/>
            <a:ext cx="57607" cy="57607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144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智能盘点机器人</a:t>
            </a:r>
            <a:endParaRPr sz="4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硬件基石 · 自动巡航，精准采集料堆体积</a:t>
            </a:r>
            <a:endParaRPr sz="19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04088" y="2121408"/>
            <a:ext cx="352958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06_p10_236x23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3200400" cy="29986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480560" y="2240280"/>
            <a:ext cx="7040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2240280"/>
            <a:ext cx="128016" cy="9144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36829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自动化作业</a:t>
            </a:r>
            <a:endParaRPr sz="21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0600" y="27432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7×24 小时无人值守，按预设路径自动采集</a:t>
            </a:r>
            <a:endParaRPr sz="14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80560" y="3273552"/>
            <a:ext cx="7040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273552"/>
            <a:ext cx="128016" cy="9144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40156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数据全覆盖</a:t>
            </a:r>
            <a:endParaRPr sz="21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00600" y="3776472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180° 激光雷达扫描，无死角获取三维数据</a:t>
            </a:r>
            <a:endParaRPr sz="14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480560" y="4306824"/>
            <a:ext cx="7040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306824"/>
            <a:ext cx="128016" cy="9144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4348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高适应性</a:t>
            </a:r>
            <a:endParaRPr sz="21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00600" y="4809744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滑触线 / 电池双供电，适应多种料场工况</a:t>
            </a:r>
            <a:endParaRPr sz="14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06_p14_222x1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24" y="5386197"/>
            <a:ext cx="1371600" cy="11652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331720" y="58521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 型巡检轨迹</a:t>
            </a:r>
            <a:endParaRPr sz="14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52544" y="548640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06_p15_222x1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5650992"/>
            <a:ext cx="1371600" cy="52322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44183" y="58521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一字型巡检轨迹</a:t>
            </a:r>
            <a:endParaRPr sz="14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065008" y="548640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06_p16_222x1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5650992"/>
            <a:ext cx="1371600" cy="62219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756648" y="58521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定制化巡检轨迹</a:t>
            </a:r>
            <a:endParaRPr sz="14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5F8FB"/>
              </a:gs>
              <a:gs pos="100000">
                <a:srgbClr val="FFFFFF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gradFill>
            <a:gsLst>
              <a:gs pos="0">
                <a:srgbClr val="22C55E"/>
              </a:gs>
              <a:gs pos="100000">
                <a:srgbClr val="10B981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8404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2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核心软件</a:t>
            </a:r>
            <a:endParaRPr sz="2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280160" cy="1280160"/>
          </a:xfrm>
          <a:prstGeom prst="ellipse">
            <a:avLst/>
          </a:prstGeom>
          <a:noFill/>
          <a:ln w="1651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640080"/>
            <a:ext cx="148132" cy="1481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3188" y="681228"/>
            <a:ext cx="90525" cy="90525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23092" y="722376"/>
            <a:ext cx="57607" cy="57607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144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智慧管理平台</a:t>
            </a:r>
            <a:endParaRPr sz="4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软件中枢 · 打通生产与管理数据壁垒</a:t>
            </a:r>
            <a:endParaRPr sz="19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029968"/>
            <a:ext cx="5815584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07_p12_613x45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5486400" cy="40526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0" y="2240280"/>
            <a:ext cx="4937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2240280"/>
            <a:ext cx="128016" cy="1143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423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实时可视化看板</a:t>
            </a:r>
            <a:endParaRPr sz="2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03720" y="2843784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三维模型 + 动态图表，直观展示各料仓库存与状态</a:t>
            </a:r>
            <a:endParaRPr sz="14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0" y="3520440"/>
            <a:ext cx="4937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520440"/>
            <a:ext cx="128016" cy="1143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3703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自动化报表生成</a:t>
            </a:r>
            <a:endParaRPr sz="2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03720" y="4123944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日报 / 月报自动生成，支持多维统计与历史追溯</a:t>
            </a:r>
            <a:endParaRPr sz="14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0" y="4800600"/>
            <a:ext cx="4937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4800600"/>
            <a:ext cx="128016" cy="1143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4983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 API 接口</a:t>
            </a:r>
            <a:endParaRPr sz="2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03720" y="5404104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无缝对接 ERP / MES，实现企业数据全面互通</a:t>
            </a:r>
            <a:endParaRPr sz="14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5F8FB"/>
              </a:gs>
              <a:gs pos="100000">
                <a:srgbClr val="FFFFFF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gradFill>
            <a:gsLst>
              <a:gs pos="0">
                <a:srgbClr val="22C55E"/>
              </a:gs>
              <a:gs pos="100000">
                <a:srgbClr val="10B981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8404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r>
              <a:rPr sz="22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核心优势</a:t>
            </a:r>
            <a:endParaRPr sz="22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280160" cy="1280160"/>
          </a:xfrm>
          <a:prstGeom prst="ellipse">
            <a:avLst/>
          </a:prstGeom>
          <a:noFill/>
          <a:ln w="1651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640080"/>
            <a:ext cx="148132" cy="1481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3188" y="681228"/>
            <a:ext cx="90525" cy="90525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23092" y="722376"/>
            <a:ext cx="57607" cy="57607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144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技术优势对比</a:t>
            </a:r>
            <a:endParaRPr sz="3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91672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5000" dist="38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874519"/>
          <a:ext cx="1063447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808476"/>
                <a:gridCol w="3808476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对比维度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传统人工盘点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智慧骨料管家系统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064E3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22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盘点精度</a:t>
                      </a:r>
                      <a:endParaRPr sz="1500" b="1">
                        <a:solidFill>
                          <a:srgbClr val="1A22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误差 &gt; 15%（人工估算）</a:t>
                      </a:r>
                      <a:endParaRPr sz="140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64E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误差 ≤ 5%（激光精准测量）</a:t>
                      </a:r>
                      <a:endParaRPr sz="1400" b="1">
                        <a:solidFill>
                          <a:srgbClr val="064E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ECFDF5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22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盘点效率</a:t>
                      </a:r>
                      <a:endParaRPr sz="1500" b="1">
                        <a:solidFill>
                          <a:srgbClr val="1A22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人工盘点，效率低下</a:t>
                      </a:r>
                      <a:endParaRPr sz="140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64E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全自动盘点（定时 / 定点）</a:t>
                      </a:r>
                      <a:endParaRPr sz="1400" b="1">
                        <a:solidFill>
                          <a:srgbClr val="064E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ECFDF5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22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人力成本</a:t>
                      </a:r>
                      <a:endParaRPr sz="1500" b="1">
                        <a:solidFill>
                          <a:srgbClr val="1A22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 3–5 名专职盘点员</a:t>
                      </a:r>
                      <a:endParaRPr sz="140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64E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无人值守，极大节省人力</a:t>
                      </a:r>
                      <a:endParaRPr sz="1400" b="1">
                        <a:solidFill>
                          <a:srgbClr val="064E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ECFDF5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22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数据实时性</a:t>
                      </a:r>
                      <a:endParaRPr sz="1500" b="1">
                        <a:solidFill>
                          <a:srgbClr val="1A22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数据滞后，呈静态状态</a:t>
                      </a:r>
                      <a:endParaRPr sz="140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64E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实时更新，库存动态监测</a:t>
                      </a:r>
                      <a:endParaRPr sz="1400" b="1">
                        <a:solidFill>
                          <a:srgbClr val="064E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ECFDF5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22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安全风险 / 数据价值</a:t>
                      </a:r>
                      <a:endParaRPr sz="1500" b="1">
                        <a:solidFill>
                          <a:srgbClr val="1A22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高风险（登高作业）/ 单一孤立</a:t>
                      </a:r>
                      <a:endParaRPr sz="140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64E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无风险（非接触式）/ 多维可追溯</a:t>
                      </a:r>
                      <a:endParaRPr sz="1400" b="1">
                        <a:solidFill>
                          <a:srgbClr val="064E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64592" marR="109728" marT="27432" marB="27432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1424"/>
              </a:gs>
              <a:gs pos="100000">
                <a:srgbClr val="0E2A3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148840"/>
            <a:ext cx="3044952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0" b="1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</a:t>
            </a:r>
            <a:endParaRPr sz="8000" b="1">
              <a:solidFill>
                <a:srgbClr val="22C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 谢 聆 听</a:t>
            </a:r>
            <a:endParaRPr sz="2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山东高速工程装备科技有限公司</a:t>
            </a:r>
            <a:endParaRPr sz="1800" b="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058400" y="5029200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14432" y="5074920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69880" y="5120640"/>
            <a:ext cx="64008" cy="6400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2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3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4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5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6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7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8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9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10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11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12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13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14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15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16.xml><?xml version="1.0" encoding="utf-8"?>
<p:tagLst xmlns:p="http://schemas.openxmlformats.org/presentationml/2006/main">
  <p:tag name="KSO_WM_DIAGRAM_VIRTUALLY_FRAME" val="{&quot;height&quot;:236.16000000000003,&quot;left&quot;:50.4,&quot;top&quot;:252.71999999999997,&quot;width&quot;:482.4}"/>
</p:tagLst>
</file>

<file path=ppt/tags/tag17.xml><?xml version="1.0" encoding="utf-8"?>
<p:tagLst xmlns:p="http://schemas.openxmlformats.org/presentationml/2006/main">
  <p:tag name="KSO_WM_DIAGRAM_VIRTUALLY_FRAME" val="{&quot;height&quot;:208.80000000000004,&quot;left&quot;:518.4,&quot;top&quot;:257.76,&quot;width&quot;:385.2}"/>
</p:tagLst>
</file>

<file path=ppt/tags/tag18.xml><?xml version="1.0" encoding="utf-8"?>
<p:tagLst xmlns:p="http://schemas.openxmlformats.org/presentationml/2006/main">
  <p:tag name="KSO_WM_DIAGRAM_VIRTUALLY_FRAME" val="{&quot;height&quot;:208.80000000000004,&quot;left&quot;:518.4,&quot;top&quot;:257.76,&quot;width&quot;:385.2}"/>
</p:tagLst>
</file>

<file path=ppt/tags/tag19.xml><?xml version="1.0" encoding="utf-8"?>
<p:tagLst xmlns:p="http://schemas.openxmlformats.org/presentationml/2006/main">
  <p:tag name="KSO_WM_DIAGRAM_VIRTUALLY_FRAME" val="{&quot;height&quot;:208.80000000000004,&quot;left&quot;:518.4,&quot;top&quot;:257.76,&quot;width&quot;:385.2}"/>
</p:tagLst>
</file>

<file path=ppt/tags/tag20.xml><?xml version="1.0" encoding="utf-8"?>
<p:tagLst xmlns:p="http://schemas.openxmlformats.org/presentationml/2006/main">
  <p:tag name="KSO_WM_DIAGRAM_VIRTUALLY_FRAME" val="{&quot;height&quot;:208.80000000000004,&quot;left&quot;:518.4,&quot;top&quot;:257.76,&quot;width&quot;:385.2}"/>
</p:tagLst>
</file>

<file path=ppt/tags/tag21.xml><?xml version="1.0" encoding="utf-8"?>
<p:tagLst xmlns:p="http://schemas.openxmlformats.org/presentationml/2006/main">
  <p:tag name="KSO_WM_DIAGRAM_VIRTUALLY_FRAME" val="{&quot;height&quot;:208.80000000000004,&quot;left&quot;:518.4,&quot;top&quot;:257.76,&quot;width&quot;:385.2}"/>
</p:tagLst>
</file>

<file path=ppt/tags/tag22.xml><?xml version="1.0" encoding="utf-8"?>
<p:tagLst xmlns:p="http://schemas.openxmlformats.org/presentationml/2006/main">
  <p:tag name="KSO_WM_DIAGRAM_VIRTUALLY_FRAME" val="{&quot;height&quot;:208.80000000000004,&quot;left&quot;:518.4,&quot;top&quot;:257.76,&quot;width&quot;:385.2}"/>
</p:tagLst>
</file>

<file path=ppt/tags/tag23.xml><?xml version="1.0" encoding="utf-8"?>
<p:tagLst xmlns:p="http://schemas.openxmlformats.org/presentationml/2006/main">
  <p:tag name="KSO_WM_DIAGRAM_VIRTUALLY_FRAME" val="{&quot;height&quot;:208.80000000000004,&quot;left&quot;:518.4,&quot;top&quot;:257.76,&quot;width&quot;:385.2}"/>
</p:tagLst>
</file>

<file path=ppt/tags/tag24.xml><?xml version="1.0" encoding="utf-8"?>
<p:tagLst xmlns:p="http://schemas.openxmlformats.org/presentationml/2006/main">
  <p:tag name="KSO_WM_DIAGRAM_VIRTUALLY_FRAME" val="{&quot;height&quot;:208.80000000000004,&quot;left&quot;:518.4,&quot;top&quot;:257.76,&quot;width&quot;:385.2}"/>
</p:tagLst>
</file>

<file path=ppt/tags/tag25.xml><?xml version="1.0" encoding="utf-8"?>
<p:tagLst xmlns:p="http://schemas.openxmlformats.org/presentationml/2006/main">
  <p:tag name="KSO_WM_DIAGRAM_VIRTUALLY_FRAME" val="{&quot;height&quot;:208.80000000000004,&quot;left&quot;:518.4,&quot;top&quot;:257.76,&quot;width&quot;:38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</Words>
  <Application>WPS 演示</Application>
  <PresentationFormat>On-screen Show (4:3)</PresentationFormat>
  <Paragraphs>148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请叫我浩子╱╱</cp:lastModifiedBy>
  <cp:revision>2</cp:revision>
  <dcterms:created xsi:type="dcterms:W3CDTF">2013-01-27T09:14:00Z</dcterms:created>
  <dcterms:modified xsi:type="dcterms:W3CDTF">2026-08-13T10:50:01Z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126BE3E14AAE4968941E4A6191EC3228_12</vt:lpwstr>
  </property>
  <property fmtid="{D5CDD505-2E9C-101B-9397-08002B2CF9AE}" pid="3" name="KSOProductBuildVer">
    <vt:lpwstr>2052-12.1.0.28043</vt:lpwstr>
  </property>
</Properties>
</file>